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35"/>
  </p:normalViewPr>
  <p:slideViewPr>
    <p:cSldViewPr snapToGrid="0" snapToObjects="1">
      <p:cViewPr varScale="1">
        <p:scale>
          <a:sx n="120" d="100"/>
          <a:sy n="120" d="100"/>
        </p:scale>
        <p:origin x="4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081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first step of the global VP genome download. We pulled all Vibrio parahaemolyticus metadata from NCBI (19,546 records). After filtering by collection year (2019 onwards), removing records with no geographic location, and deduplicating by BioSample, 6,061 unique genomes remain. No proper quality filtering has been done yet — the next step is to exclude suppressed and atypical records, then run in silico ST typing to identify all ST50, ST36, and ST3 strains. Note 2021 has the largest count (1,600), possibly reflecting intensified surveillance during the pandemic period.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1274552" cy="502920"/>
          </a:xfrm>
          <a:prstGeom prst="rect">
            <a:avLst/>
          </a:prstGeom>
          <a:noFill/>
        </p:spPr>
        <p:txBody>
          <a:bodyPr wrap="square" lIns="0" tIns="0" rIns="0" bIns="0" anchor="ctr">
            <a:spAutoFit/>
          </a:bodyPr>
          <a:lstStyle/>
          <a:p>
            <a:pPr algn="l"/>
            <a:r>
              <a:rPr sz="2400" b="1">
                <a:solidFill>
                  <a:srgbClr val="222222"/>
                </a:solidFill>
                <a:latin typeface="Calibri"/>
              </a:rPr>
              <a:t>Global V. parahaemolyticus genome screening (NCBI)</a:t>
            </a:r>
          </a:p>
        </p:txBody>
      </p:sp>
      <p:sp>
        <p:nvSpPr>
          <p:cNvPr id="3" name="Rectangle 2"/>
          <p:cNvSpPr/>
          <p:nvPr/>
        </p:nvSpPr>
        <p:spPr>
          <a:xfrm>
            <a:off x="457200" y="868680"/>
            <a:ext cx="11274552" cy="109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92608" y="1874519"/>
            <a:ext cx="2560320" cy="1417320"/>
          </a:xfrm>
          <a:prstGeom prst="roundRect">
            <a:avLst>
              <a:gd name="adj" fmla="val 10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2608" y="2039112"/>
            <a:ext cx="2560320" cy="685800"/>
          </a:xfrm>
          <a:prstGeom prst="rect">
            <a:avLst/>
          </a:prstGeom>
          <a:noFill/>
        </p:spPr>
        <p:txBody>
          <a:bodyPr wrap="square" lIns="0" tIns="0" rIns="0" bIns="0" anchor="ctr">
            <a:spAutoFit/>
          </a:bodyPr>
          <a:lstStyle/>
          <a:p>
            <a:pPr algn="ctr"/>
            <a:r>
              <a:rPr sz="2200" b="1">
                <a:solidFill>
                  <a:srgbClr val="222222"/>
                </a:solidFill>
                <a:latin typeface="Calibri"/>
              </a:rPr>
              <a:t>19,546</a:t>
            </a:r>
          </a:p>
        </p:txBody>
      </p:sp>
      <p:sp>
        <p:nvSpPr>
          <p:cNvPr id="6" name="TextBox 5"/>
          <p:cNvSpPr txBox="1"/>
          <p:nvPr/>
        </p:nvSpPr>
        <p:spPr>
          <a:xfrm>
            <a:off x="292608" y="2743200"/>
            <a:ext cx="2560320" cy="457200"/>
          </a:xfrm>
          <a:prstGeom prst="rect">
            <a:avLst/>
          </a:prstGeom>
          <a:noFill/>
        </p:spPr>
        <p:txBody>
          <a:bodyPr wrap="square" lIns="0" tIns="0" rIns="0" bIns="0" anchor="t">
            <a:spAutoFit/>
          </a:bodyPr>
          <a:lstStyle/>
          <a:p>
            <a:pPr algn="ctr"/>
            <a:r>
              <a:rPr sz="1100" b="0">
                <a:solidFill>
                  <a:srgbClr val="6B6B6B"/>
                </a:solidFill>
                <a:latin typeface="Calibri"/>
              </a:rPr>
              <a:t>NCBI genomes</a:t>
            </a:r>
          </a:p>
          <a:p>
            <a:pPr algn="ctr"/>
            <a:r>
              <a:rPr sz="1100" b="0">
                <a:solidFill>
                  <a:srgbClr val="6B6B6B"/>
                </a:solidFill>
                <a:latin typeface="Calibri"/>
              </a:rPr>
              <a:t>(taxon 670)</a:t>
            </a:r>
          </a:p>
        </p:txBody>
      </p:sp>
      <p:sp>
        <p:nvSpPr>
          <p:cNvPr id="7" name="Right Arrow 6"/>
          <p:cNvSpPr/>
          <p:nvPr/>
        </p:nvSpPr>
        <p:spPr>
          <a:xfrm>
            <a:off x="2898647" y="2464308"/>
            <a:ext cx="365760" cy="237744"/>
          </a:xfrm>
          <a:prstGeom prst="rightArrow">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10127" y="1874519"/>
            <a:ext cx="2560320" cy="1417320"/>
          </a:xfrm>
          <a:prstGeom prst="roundRect">
            <a:avLst>
              <a:gd name="adj" fmla="val 10000"/>
            </a:avLst>
          </a:prstGeom>
          <a:solidFill>
            <a:srgbClr val="CF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10127" y="2039112"/>
            <a:ext cx="2560320" cy="685800"/>
          </a:xfrm>
          <a:prstGeom prst="rect">
            <a:avLst/>
          </a:prstGeom>
          <a:noFill/>
        </p:spPr>
        <p:txBody>
          <a:bodyPr wrap="square" lIns="0" tIns="0" rIns="0" bIns="0" anchor="ctr">
            <a:spAutoFit/>
          </a:bodyPr>
          <a:lstStyle/>
          <a:p>
            <a:pPr algn="ctr"/>
            <a:r>
              <a:rPr sz="2200" b="1">
                <a:solidFill>
                  <a:srgbClr val="222222"/>
                </a:solidFill>
                <a:latin typeface="Calibri"/>
              </a:rPr>
              <a:t>7,700</a:t>
            </a:r>
          </a:p>
        </p:txBody>
      </p:sp>
      <p:sp>
        <p:nvSpPr>
          <p:cNvPr id="10" name="TextBox 9"/>
          <p:cNvSpPr txBox="1"/>
          <p:nvPr/>
        </p:nvSpPr>
        <p:spPr>
          <a:xfrm>
            <a:off x="3310127" y="2743200"/>
            <a:ext cx="2560320" cy="457200"/>
          </a:xfrm>
          <a:prstGeom prst="rect">
            <a:avLst/>
          </a:prstGeom>
          <a:noFill/>
        </p:spPr>
        <p:txBody>
          <a:bodyPr wrap="square" lIns="0" tIns="0" rIns="0" bIns="0" anchor="t">
            <a:spAutoFit/>
          </a:bodyPr>
          <a:lstStyle/>
          <a:p>
            <a:pPr algn="ctr"/>
            <a:r>
              <a:rPr sz="1100" b="0">
                <a:solidFill>
                  <a:srgbClr val="6B6B6B"/>
                </a:solidFill>
                <a:latin typeface="Calibri"/>
              </a:rPr>
              <a:t>collection year ≥ 2019</a:t>
            </a:r>
          </a:p>
          <a:p>
            <a:pPr algn="ctr"/>
            <a:r>
              <a:rPr sz="1100" b="0">
                <a:solidFill>
                  <a:srgbClr val="6B6B6B"/>
                </a:solidFill>
                <a:latin typeface="Calibri"/>
              </a:rPr>
              <a:t>(−11,846)</a:t>
            </a:r>
          </a:p>
        </p:txBody>
      </p:sp>
      <p:sp>
        <p:nvSpPr>
          <p:cNvPr id="11" name="Right Arrow 10"/>
          <p:cNvSpPr/>
          <p:nvPr/>
        </p:nvSpPr>
        <p:spPr>
          <a:xfrm>
            <a:off x="5916168" y="2464308"/>
            <a:ext cx="365760" cy="237744"/>
          </a:xfrm>
          <a:prstGeom prst="rightArrow">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27648" y="1874519"/>
            <a:ext cx="2560320" cy="1417320"/>
          </a:xfrm>
          <a:prstGeom prst="roundRect">
            <a:avLst>
              <a:gd name="adj" fmla="val 10000"/>
            </a:avLst>
          </a:prstGeom>
          <a:solidFill>
            <a:srgbClr val="CF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2039112"/>
            <a:ext cx="2560320" cy="685800"/>
          </a:xfrm>
          <a:prstGeom prst="rect">
            <a:avLst/>
          </a:prstGeom>
          <a:noFill/>
        </p:spPr>
        <p:txBody>
          <a:bodyPr wrap="square" lIns="0" tIns="0" rIns="0" bIns="0" anchor="ctr">
            <a:spAutoFit/>
          </a:bodyPr>
          <a:lstStyle/>
          <a:p>
            <a:pPr algn="ctr"/>
            <a:r>
              <a:rPr sz="2200" b="1">
                <a:solidFill>
                  <a:srgbClr val="222222"/>
                </a:solidFill>
                <a:latin typeface="Calibri"/>
              </a:rPr>
              <a:t>7,633</a:t>
            </a:r>
          </a:p>
        </p:txBody>
      </p:sp>
      <p:sp>
        <p:nvSpPr>
          <p:cNvPr id="14" name="TextBox 13"/>
          <p:cNvSpPr txBox="1"/>
          <p:nvPr/>
        </p:nvSpPr>
        <p:spPr>
          <a:xfrm>
            <a:off x="6327648" y="2743200"/>
            <a:ext cx="2560320" cy="457200"/>
          </a:xfrm>
          <a:prstGeom prst="rect">
            <a:avLst/>
          </a:prstGeom>
          <a:noFill/>
        </p:spPr>
        <p:txBody>
          <a:bodyPr wrap="square" lIns="0" tIns="0" rIns="0" bIns="0" anchor="t">
            <a:spAutoFit/>
          </a:bodyPr>
          <a:lstStyle/>
          <a:p>
            <a:pPr algn="ctr"/>
            <a:r>
              <a:rPr sz="1100" b="0">
                <a:solidFill>
                  <a:srgbClr val="6B6B6B"/>
                </a:solidFill>
                <a:latin typeface="Calibri"/>
              </a:rPr>
              <a:t>geographic location</a:t>
            </a:r>
          </a:p>
          <a:p>
            <a:pPr algn="ctr"/>
            <a:r>
              <a:rPr sz="1100" b="0">
                <a:solidFill>
                  <a:srgbClr val="6B6B6B"/>
                </a:solidFill>
                <a:latin typeface="Calibri"/>
              </a:rPr>
              <a:t>available  (−67)</a:t>
            </a:r>
          </a:p>
        </p:txBody>
      </p:sp>
      <p:sp>
        <p:nvSpPr>
          <p:cNvPr id="15" name="Right Arrow 14"/>
          <p:cNvSpPr/>
          <p:nvPr/>
        </p:nvSpPr>
        <p:spPr>
          <a:xfrm>
            <a:off x="8933688" y="2464308"/>
            <a:ext cx="365760" cy="237744"/>
          </a:xfrm>
          <a:prstGeom prst="rightArrow">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345167" y="1874519"/>
            <a:ext cx="2560320" cy="1417320"/>
          </a:xfrm>
          <a:prstGeom prst="roundRect">
            <a:avLst>
              <a:gd name="adj" fmla="val 10000"/>
            </a:avLst>
          </a:prstGeom>
          <a:solidFill>
            <a:srgbClr val="2D7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45167" y="2039112"/>
            <a:ext cx="2560320" cy="685800"/>
          </a:xfrm>
          <a:prstGeom prst="rect">
            <a:avLst/>
          </a:prstGeom>
          <a:noFill/>
        </p:spPr>
        <p:txBody>
          <a:bodyPr wrap="square" lIns="0" tIns="0" rIns="0" bIns="0" anchor="ctr">
            <a:spAutoFit/>
          </a:bodyPr>
          <a:lstStyle/>
          <a:p>
            <a:pPr algn="ctr"/>
            <a:r>
              <a:rPr sz="2200" b="1">
                <a:solidFill>
                  <a:srgbClr val="FFFFFF"/>
                </a:solidFill>
                <a:latin typeface="Calibri"/>
              </a:rPr>
              <a:t>6,061</a:t>
            </a:r>
          </a:p>
        </p:txBody>
      </p:sp>
      <p:sp>
        <p:nvSpPr>
          <p:cNvPr id="18" name="TextBox 17"/>
          <p:cNvSpPr txBox="1"/>
          <p:nvPr/>
        </p:nvSpPr>
        <p:spPr>
          <a:xfrm>
            <a:off x="9345167" y="2743200"/>
            <a:ext cx="2560320" cy="457200"/>
          </a:xfrm>
          <a:prstGeom prst="rect">
            <a:avLst/>
          </a:prstGeom>
          <a:noFill/>
        </p:spPr>
        <p:txBody>
          <a:bodyPr wrap="square" lIns="0" tIns="0" rIns="0" bIns="0" anchor="t">
            <a:spAutoFit/>
          </a:bodyPr>
          <a:lstStyle/>
          <a:p>
            <a:pPr algn="ctr"/>
            <a:r>
              <a:rPr sz="1100" b="0">
                <a:solidFill>
                  <a:srgbClr val="FFFFFF"/>
                </a:solidFill>
                <a:latin typeface="Calibri"/>
              </a:rPr>
              <a:t>unique BioSamples</a:t>
            </a:r>
          </a:p>
          <a:p>
            <a:pPr algn="ctr"/>
            <a:r>
              <a:rPr sz="1100" b="0">
                <a:solidFill>
                  <a:srgbClr val="FFFFFF"/>
                </a:solidFill>
                <a:latin typeface="Calibri"/>
              </a:rPr>
              <a:t>(−1,572 duplicates)</a:t>
            </a:r>
          </a:p>
        </p:txBody>
      </p:sp>
      <p:sp>
        <p:nvSpPr>
          <p:cNvPr id="19" name="TextBox 18"/>
          <p:cNvSpPr txBox="1"/>
          <p:nvPr/>
        </p:nvSpPr>
        <p:spPr>
          <a:xfrm>
            <a:off x="2761487" y="1463039"/>
            <a:ext cx="640080" cy="320040"/>
          </a:xfrm>
          <a:prstGeom prst="rect">
            <a:avLst/>
          </a:prstGeom>
          <a:noFill/>
        </p:spPr>
        <p:txBody>
          <a:bodyPr wrap="square" lIns="0" tIns="0" rIns="0" bIns="0" anchor="ctr">
            <a:spAutoFit/>
          </a:bodyPr>
          <a:lstStyle/>
          <a:p>
            <a:pPr algn="ctr"/>
            <a:r>
              <a:rPr sz="900" b="0">
                <a:solidFill>
                  <a:srgbClr val="1F3A5F"/>
                </a:solidFill>
                <a:latin typeface="Calibri"/>
              </a:rPr>
              <a:t>collection year ≥ 2019</a:t>
            </a:r>
          </a:p>
        </p:txBody>
      </p:sp>
      <p:sp>
        <p:nvSpPr>
          <p:cNvPr id="20" name="TextBox 19"/>
          <p:cNvSpPr txBox="1"/>
          <p:nvPr/>
        </p:nvSpPr>
        <p:spPr>
          <a:xfrm>
            <a:off x="5779008" y="1463039"/>
            <a:ext cx="640080" cy="320040"/>
          </a:xfrm>
          <a:prstGeom prst="rect">
            <a:avLst/>
          </a:prstGeom>
          <a:noFill/>
        </p:spPr>
        <p:txBody>
          <a:bodyPr wrap="square" lIns="0" tIns="0" rIns="0" bIns="0" anchor="ctr">
            <a:spAutoFit/>
          </a:bodyPr>
          <a:lstStyle/>
          <a:p>
            <a:pPr algn="ctr"/>
            <a:r>
              <a:rPr sz="900" b="0">
                <a:solidFill>
                  <a:srgbClr val="1F3A5F"/>
                </a:solidFill>
                <a:latin typeface="Calibri"/>
              </a:rPr>
              <a:t>geo location present</a:t>
            </a:r>
          </a:p>
        </p:txBody>
      </p:sp>
      <p:sp>
        <p:nvSpPr>
          <p:cNvPr id="21" name="TextBox 20"/>
          <p:cNvSpPr txBox="1"/>
          <p:nvPr/>
        </p:nvSpPr>
        <p:spPr>
          <a:xfrm>
            <a:off x="8796528" y="1463039"/>
            <a:ext cx="640080" cy="320040"/>
          </a:xfrm>
          <a:prstGeom prst="rect">
            <a:avLst/>
          </a:prstGeom>
          <a:noFill/>
        </p:spPr>
        <p:txBody>
          <a:bodyPr wrap="square" lIns="0" tIns="0" rIns="0" bIns="0" anchor="ctr">
            <a:spAutoFit/>
          </a:bodyPr>
          <a:lstStyle/>
          <a:p>
            <a:pPr algn="ctr"/>
            <a:r>
              <a:rPr sz="900" b="0">
                <a:solidFill>
                  <a:srgbClr val="1F3A5F"/>
                </a:solidFill>
                <a:latin typeface="Calibri"/>
              </a:rPr>
              <a:t>BioSample dedup</a:t>
            </a:r>
          </a:p>
        </p:txBody>
      </p:sp>
      <p:sp>
        <p:nvSpPr>
          <p:cNvPr id="22" name="Rounded Rectangle 21"/>
          <p:cNvSpPr/>
          <p:nvPr/>
        </p:nvSpPr>
        <p:spPr>
          <a:xfrm>
            <a:off x="292608" y="3749039"/>
            <a:ext cx="3703320" cy="2103120"/>
          </a:xfrm>
          <a:prstGeom prst="roundRect">
            <a:avLst>
              <a:gd name="adj" fmla="val 10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3822191"/>
            <a:ext cx="3520439" cy="320040"/>
          </a:xfrm>
          <a:prstGeom prst="rect">
            <a:avLst/>
          </a:prstGeom>
          <a:noFill/>
        </p:spPr>
        <p:txBody>
          <a:bodyPr wrap="square" lIns="0" tIns="0" rIns="0" bIns="0" anchor="t">
            <a:spAutoFit/>
          </a:bodyPr>
          <a:lstStyle/>
          <a:p>
            <a:pPr algn="l"/>
            <a:r>
              <a:rPr sz="1200" b="1">
                <a:solidFill>
                  <a:srgbClr val="2D7D8A"/>
                </a:solidFill>
                <a:latin typeface="Calibri"/>
              </a:rPr>
              <a:t>Year distribution</a:t>
            </a:r>
          </a:p>
        </p:txBody>
      </p:sp>
      <p:sp>
        <p:nvSpPr>
          <p:cNvPr id="24" name="TextBox 23"/>
          <p:cNvSpPr txBox="1"/>
          <p:nvPr/>
        </p:nvSpPr>
        <p:spPr>
          <a:xfrm>
            <a:off x="384048" y="4187952"/>
            <a:ext cx="3520439" cy="923330"/>
          </a:xfrm>
          <a:prstGeom prst="rect">
            <a:avLst/>
          </a:prstGeom>
          <a:noFill/>
        </p:spPr>
        <p:txBody>
          <a:bodyPr wrap="square" lIns="0" tIns="0" rIns="0" bIns="0" anchor="t">
            <a:spAutoFit/>
          </a:bodyPr>
          <a:lstStyle/>
          <a:p>
            <a:pPr algn="l"/>
            <a:r>
              <a:rPr sz="1000" b="0" dirty="0">
                <a:solidFill>
                  <a:srgbClr val="222222"/>
                </a:solidFill>
                <a:latin typeface="Calibri"/>
              </a:rPr>
              <a:t>2019 : 1,170      2023 : 1,287</a:t>
            </a:r>
          </a:p>
          <a:p>
            <a:pPr algn="l"/>
            <a:r>
              <a:rPr sz="1000" b="0" dirty="0">
                <a:solidFill>
                  <a:srgbClr val="222222"/>
                </a:solidFill>
                <a:latin typeface="Calibri"/>
              </a:rPr>
              <a:t>2020 : 1,106      2024 :   872</a:t>
            </a:r>
          </a:p>
          <a:p>
            <a:pPr algn="l"/>
            <a:r>
              <a:rPr sz="1000" b="0" dirty="0">
                <a:solidFill>
                  <a:srgbClr val="222222"/>
                </a:solidFill>
                <a:latin typeface="Calibri"/>
              </a:rPr>
              <a:t>2021 : 1,600      2025 :   530</a:t>
            </a:r>
          </a:p>
          <a:p>
            <a:pPr algn="l"/>
            <a:r>
              <a:rPr sz="1000" b="0" dirty="0">
                <a:solidFill>
                  <a:srgbClr val="222222"/>
                </a:solidFill>
                <a:latin typeface="Calibri"/>
              </a:rPr>
              <a:t>2022 : 1,043      2026 :    92</a:t>
            </a:r>
          </a:p>
          <a:p>
            <a:pPr algn="l"/>
            <a:endParaRPr sz="1000" b="0" dirty="0">
              <a:solidFill>
                <a:srgbClr val="222222"/>
              </a:solidFill>
              <a:latin typeface="Calibri"/>
            </a:endParaRPr>
          </a:p>
          <a:p>
            <a:pPr algn="l"/>
            <a:endParaRPr sz="1000" b="0" dirty="0">
              <a:solidFill>
                <a:srgbClr val="222222"/>
              </a:solidFill>
              <a:latin typeface="Calibri"/>
            </a:endParaRPr>
          </a:p>
        </p:txBody>
      </p:sp>
      <p:sp>
        <p:nvSpPr>
          <p:cNvPr id="25" name="Rounded Rectangle 24"/>
          <p:cNvSpPr/>
          <p:nvPr/>
        </p:nvSpPr>
        <p:spPr>
          <a:xfrm>
            <a:off x="4133088" y="3749039"/>
            <a:ext cx="3703320" cy="2103120"/>
          </a:xfrm>
          <a:prstGeom prst="roundRect">
            <a:avLst>
              <a:gd name="adj" fmla="val 10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24528" y="3822191"/>
            <a:ext cx="3520439" cy="320040"/>
          </a:xfrm>
          <a:prstGeom prst="rect">
            <a:avLst/>
          </a:prstGeom>
          <a:noFill/>
        </p:spPr>
        <p:txBody>
          <a:bodyPr wrap="square" lIns="0" tIns="0" rIns="0" bIns="0" anchor="t">
            <a:spAutoFit/>
          </a:bodyPr>
          <a:lstStyle/>
          <a:p>
            <a:pPr algn="l"/>
            <a:r>
              <a:rPr sz="1200" b="1">
                <a:solidFill>
                  <a:srgbClr val="2D7D8A"/>
                </a:solidFill>
                <a:latin typeface="Calibri"/>
              </a:rPr>
              <a:t>Assembly level</a:t>
            </a:r>
          </a:p>
        </p:txBody>
      </p:sp>
      <p:sp>
        <p:nvSpPr>
          <p:cNvPr id="27" name="TextBox 26"/>
          <p:cNvSpPr txBox="1"/>
          <p:nvPr/>
        </p:nvSpPr>
        <p:spPr>
          <a:xfrm>
            <a:off x="4224528" y="4187952"/>
            <a:ext cx="3520439" cy="769441"/>
          </a:xfrm>
          <a:prstGeom prst="rect">
            <a:avLst/>
          </a:prstGeom>
          <a:noFill/>
        </p:spPr>
        <p:txBody>
          <a:bodyPr wrap="square" lIns="0" tIns="0" rIns="0" bIns="0" anchor="t">
            <a:spAutoFit/>
          </a:bodyPr>
          <a:lstStyle/>
          <a:p>
            <a:pPr algn="l"/>
            <a:r>
              <a:rPr sz="1000" b="0" dirty="0">
                <a:solidFill>
                  <a:srgbClr val="222222"/>
                </a:solidFill>
                <a:latin typeface="Calibri"/>
              </a:rPr>
              <a:t>Contig            5,203   (85.8 %)</a:t>
            </a:r>
          </a:p>
          <a:p>
            <a:pPr algn="l"/>
            <a:r>
              <a:rPr sz="1000" b="0" dirty="0">
                <a:solidFill>
                  <a:srgbClr val="222222"/>
                </a:solidFill>
                <a:latin typeface="Calibri"/>
              </a:rPr>
              <a:t>Scaffold            752   (12.4 %)</a:t>
            </a:r>
          </a:p>
          <a:p>
            <a:pPr algn="l"/>
            <a:r>
              <a:rPr sz="1000" b="0" dirty="0">
                <a:solidFill>
                  <a:srgbClr val="222222"/>
                </a:solidFill>
                <a:latin typeface="Calibri"/>
              </a:rPr>
              <a:t>Complete Genome      85   ( 1.4 %)</a:t>
            </a:r>
          </a:p>
          <a:p>
            <a:pPr algn="l"/>
            <a:r>
              <a:rPr sz="1000" b="0" dirty="0">
                <a:solidFill>
                  <a:srgbClr val="222222"/>
                </a:solidFill>
                <a:latin typeface="Calibri"/>
              </a:rPr>
              <a:t>Chromosome           21   ( 0.4 %)</a:t>
            </a:r>
          </a:p>
          <a:p>
            <a:pPr algn="l"/>
            <a:endParaRPr sz="1000" b="0" dirty="0">
              <a:solidFill>
                <a:srgbClr val="222222"/>
              </a:solidFill>
              <a:latin typeface="Calibri"/>
            </a:endParaRPr>
          </a:p>
        </p:txBody>
      </p:sp>
      <p:sp>
        <p:nvSpPr>
          <p:cNvPr id="28" name="Rounded Rectangle 27"/>
          <p:cNvSpPr/>
          <p:nvPr/>
        </p:nvSpPr>
        <p:spPr>
          <a:xfrm>
            <a:off x="7973568" y="3749039"/>
            <a:ext cx="3703320" cy="2103120"/>
          </a:xfrm>
          <a:prstGeom prst="roundRect">
            <a:avLst>
              <a:gd name="adj" fmla="val 10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65008" y="3822191"/>
            <a:ext cx="3520439" cy="320040"/>
          </a:xfrm>
          <a:prstGeom prst="rect">
            <a:avLst/>
          </a:prstGeom>
          <a:noFill/>
        </p:spPr>
        <p:txBody>
          <a:bodyPr wrap="square" lIns="0" tIns="0" rIns="0" bIns="0" anchor="t">
            <a:spAutoFit/>
          </a:bodyPr>
          <a:lstStyle/>
          <a:p>
            <a:pPr algn="l"/>
            <a:r>
              <a:rPr sz="1200" b="1">
                <a:solidFill>
                  <a:srgbClr val="2D7D8A"/>
                </a:solidFill>
                <a:latin typeface="Calibri"/>
              </a:rPr>
              <a:t>Assembly status</a:t>
            </a:r>
          </a:p>
        </p:txBody>
      </p:sp>
      <p:sp>
        <p:nvSpPr>
          <p:cNvPr id="30" name="TextBox 29"/>
          <p:cNvSpPr txBox="1"/>
          <p:nvPr/>
        </p:nvSpPr>
        <p:spPr>
          <a:xfrm>
            <a:off x="8065008" y="4187952"/>
            <a:ext cx="3520439" cy="615553"/>
          </a:xfrm>
          <a:prstGeom prst="rect">
            <a:avLst/>
          </a:prstGeom>
          <a:noFill/>
        </p:spPr>
        <p:txBody>
          <a:bodyPr wrap="square" lIns="0" tIns="0" rIns="0" bIns="0" anchor="t">
            <a:spAutoFit/>
          </a:bodyPr>
          <a:lstStyle/>
          <a:p>
            <a:pPr algn="l"/>
            <a:r>
              <a:rPr sz="1000" b="0" dirty="0">
                <a:solidFill>
                  <a:srgbClr val="222222"/>
                </a:solidFill>
                <a:latin typeface="Calibri"/>
              </a:rPr>
              <a:t>current             5,408</a:t>
            </a:r>
          </a:p>
          <a:p>
            <a:pPr algn="l"/>
            <a:r>
              <a:rPr sz="1000" b="0" dirty="0">
                <a:solidFill>
                  <a:srgbClr val="222222"/>
                </a:solidFill>
                <a:latin typeface="Calibri"/>
              </a:rPr>
              <a:t>suppressed            653</a:t>
            </a:r>
          </a:p>
          <a:p>
            <a:pPr algn="l"/>
            <a:r>
              <a:rPr sz="1000" b="0" dirty="0">
                <a:solidFill>
                  <a:srgbClr val="222222"/>
                </a:solidFill>
                <a:latin typeface="Calibri"/>
              </a:rPr>
              <a:t>atypical               17</a:t>
            </a:r>
          </a:p>
          <a:p>
            <a:pPr algn="l"/>
            <a:endParaRPr sz="1000" b="0" dirty="0">
              <a:solidFill>
                <a:srgbClr val="222222"/>
              </a:solidFill>
              <a:latin typeface="Calibri"/>
            </a:endParaRPr>
          </a:p>
        </p:txBody>
      </p:sp>
      <p:sp>
        <p:nvSpPr>
          <p:cNvPr id="31" name="Rectangle 30"/>
          <p:cNvSpPr/>
          <p:nvPr/>
        </p:nvSpPr>
        <p:spPr>
          <a:xfrm>
            <a:off x="457200" y="6126480"/>
            <a:ext cx="11274552" cy="10972"/>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6199632"/>
            <a:ext cx="1097280" cy="365760"/>
          </a:xfrm>
          <a:prstGeom prst="rect">
            <a:avLst/>
          </a:prstGeom>
          <a:noFill/>
        </p:spPr>
        <p:txBody>
          <a:bodyPr wrap="square" lIns="0" tIns="0" rIns="0" bIns="0" anchor="ctr">
            <a:spAutoFit/>
          </a:bodyPr>
          <a:lstStyle/>
          <a:p>
            <a:pPr algn="l"/>
            <a:r>
              <a:rPr sz="1200" b="1">
                <a:solidFill>
                  <a:srgbClr val="2D7D8A"/>
                </a:solidFill>
                <a:latin typeface="Calibri"/>
              </a:rPr>
              <a:t>Next</a:t>
            </a:r>
          </a:p>
        </p:txBody>
      </p:sp>
      <p:sp>
        <p:nvSpPr>
          <p:cNvPr id="33" name="TextBox 32"/>
          <p:cNvSpPr txBox="1"/>
          <p:nvPr/>
        </p:nvSpPr>
        <p:spPr>
          <a:xfrm>
            <a:off x="1280160" y="6199632"/>
            <a:ext cx="10424160" cy="365760"/>
          </a:xfrm>
          <a:prstGeom prst="rect">
            <a:avLst/>
          </a:prstGeom>
          <a:noFill/>
        </p:spPr>
        <p:txBody>
          <a:bodyPr wrap="square" lIns="0" tIns="0" rIns="0" bIns="0" anchor="ctr">
            <a:spAutoFit/>
          </a:bodyPr>
          <a:lstStyle/>
          <a:p>
            <a:pPr algn="l"/>
            <a:r>
              <a:rPr sz="1200" b="0">
                <a:solidFill>
                  <a:srgbClr val="222222"/>
                </a:solidFill>
                <a:latin typeface="Calibri"/>
              </a:rPr>
              <a:t>exclude suppressed / atypical records  →  quality filtering  →  in silico ST typing (ST50 · ST36 · ST3)  →  assembly download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236</Words>
  <Application>Microsoft Macintosh PowerPoint</Application>
  <PresentationFormat>自定义</PresentationFormat>
  <Paragraphs>33</Paragraphs>
  <Slides>1</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Calibri</vt:lpstr>
      <vt:lpstr>Office Theme</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Z57047</cp:lastModifiedBy>
  <cp:revision>2</cp:revision>
  <dcterms:created xsi:type="dcterms:W3CDTF">2013-01-27T09:14:16Z</dcterms:created>
  <dcterms:modified xsi:type="dcterms:W3CDTF">2026-05-28T12:19:29Z</dcterms:modified>
  <cp:category/>
</cp:coreProperties>
</file>